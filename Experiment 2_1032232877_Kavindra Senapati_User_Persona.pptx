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
  </p:notesMasterIdLst>
  <p:sldIdLst>
    <p:sldId id="257" r:id="rId2"/>
    <p:sldId id="256" r:id="rId3"/>
  </p:sldIdLst>
  <p:sldSz cx="9144000" cy="5143500" type="screen16x9"/>
  <p:notesSz cx="6858000" cy="9144000"/>
  <p:embeddedFontLst>
    <p:embeddedFont>
      <p:font typeface="Google Sans" panose="020B0604020202020204" charset="0"/>
      <p:regular r:id="rId5"/>
      <p:bold r:id="rId6"/>
      <p:italic r:id="rId7"/>
      <p:boldItalic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4" d="100"/>
          <a:sy n="124" d="100"/>
        </p:scale>
        <p:origin x="27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heme" Target="theme/theme1.xml"/><Relationship Id="rId5" Type="http://schemas.openxmlformats.org/officeDocument/2006/relationships/font" Target="fonts/font1.fntdata"/><Relationship Id="rId10"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3" name="TextBox 2"/>
          <p:cNvSpPr txBox="1"/>
          <p:nvPr/>
        </p:nvSpPr>
        <p:spPr>
          <a:xfrm>
            <a:off x="914400" y="1371600"/>
            <a:ext cx="7315200" cy="2031325"/>
          </a:xfrm>
          <a:prstGeom prst="rect">
            <a:avLst/>
          </a:prstGeom>
          <a:noFill/>
        </p:spPr>
        <p:txBody>
          <a:bodyPr wrap="square">
            <a:spAutoFit/>
          </a:bodyPr>
          <a:lstStyle/>
          <a:p>
            <a:pPr algn="ctr"/>
            <a:r>
              <a:rPr sz="3600" b="1" dirty="0">
                <a:solidFill>
                  <a:srgbClr val="FFFFFF"/>
                </a:solidFill>
              </a:rPr>
              <a:t>USER PERSONA FOR THE
CRED APP</a:t>
            </a:r>
            <a:br>
              <a:rPr lang="en-IN" sz="3600" b="1" dirty="0">
                <a:solidFill>
                  <a:srgbClr val="FFFFFF"/>
                </a:solidFill>
              </a:rPr>
            </a:br>
            <a:endParaRPr sz="3600" b="1" dirty="0">
              <a:solidFill>
                <a:srgbClr val="FFFFFF"/>
              </a:solidFill>
            </a:endParaRPr>
          </a:p>
          <a:p>
            <a:pPr algn="ctr"/>
            <a:r>
              <a:rPr sz="1800" dirty="0">
                <a:solidFill>
                  <a:srgbClr val="B4B4B4"/>
                </a:solidFill>
              </a:rPr>
              <a:t>A UX Research &amp; Interface Analysis</a:t>
            </a:r>
          </a:p>
        </p:txBody>
      </p:sp>
      <p:sp>
        <p:nvSpPr>
          <p:cNvPr id="4" name="TextBox 3"/>
          <p:cNvSpPr txBox="1"/>
          <p:nvPr/>
        </p:nvSpPr>
        <p:spPr>
          <a:xfrm>
            <a:off x="914400" y="3657600"/>
            <a:ext cx="7315200" cy="307777"/>
          </a:xfrm>
          <a:prstGeom prst="rect">
            <a:avLst/>
          </a:prstGeom>
          <a:noFill/>
        </p:spPr>
        <p:txBody>
          <a:bodyPr wrap="square">
            <a:spAutoFit/>
          </a:bodyPr>
          <a:lstStyle/>
          <a:p>
            <a:pPr algn="ctr"/>
            <a:r>
              <a:rPr sz="1400" dirty="0">
                <a:solidFill>
                  <a:srgbClr val="C8C8C8"/>
                </a:solidFill>
              </a:rPr>
              <a:t>Kavindra Senapati | PRN: 1032232877 | Panel: D | Roll No: 51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i="0" u="none" strike="noStrike" cap="none" dirty="0">
                <a:solidFill>
                  <a:srgbClr val="1967D2"/>
                </a:solidFill>
                <a:latin typeface="Google Sans"/>
                <a:ea typeface="Google Sans"/>
                <a:cs typeface="Google Sans"/>
                <a:sym typeface="Google Sans"/>
              </a:rPr>
              <a:t>Rohan Mehta</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294825" y="3614499"/>
            <a:ext cx="3201300" cy="1382525"/>
          </a:xfrm>
          <a:prstGeom prst="rect">
            <a:avLst/>
          </a:prstGeom>
          <a:noFill/>
          <a:ln>
            <a:noFill/>
          </a:ln>
        </p:spPr>
        <p:txBody>
          <a:bodyPr spcFirstLastPara="1" wrap="square" lIns="91425" tIns="91425" rIns="91425" bIns="91425" anchor="t" anchorCtr="0">
            <a:noAutofit/>
          </a:bodyPr>
          <a:lstStyle/>
          <a:p>
            <a:pPr marL="0" marR="0" lvl="0" indent="0"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Age: 27</a:t>
            </a:r>
            <a:endParaRPr sz="1400" b="1" i="0" u="none" strike="noStrike" cap="none" dirty="0">
              <a:solidFill>
                <a:srgbClr val="000000"/>
              </a:solidFill>
              <a:latin typeface="Google Sans"/>
              <a:ea typeface="Google Sans"/>
              <a:cs typeface="Google Sans"/>
              <a:sym typeface="Google Sans"/>
            </a:endParaRPr>
          </a:p>
          <a:p>
            <a:pPr marL="0" marR="0" lvl="0" indent="0"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Education: B.Tech (CS), NIT Surat</a:t>
            </a:r>
            <a:endParaRPr sz="1400" b="1" i="0" u="none" strike="noStrike" cap="none" dirty="0">
              <a:solidFill>
                <a:srgbClr val="000000"/>
              </a:solidFill>
              <a:latin typeface="Google Sans"/>
              <a:ea typeface="Google Sans"/>
              <a:cs typeface="Google Sans"/>
              <a:sym typeface="Google Sans"/>
            </a:endParaRPr>
          </a:p>
          <a:p>
            <a:pPr marL="0" marR="0" lvl="0" indent="0"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Hometown: Mumbai, India</a:t>
            </a:r>
            <a:endParaRPr sz="1400" b="1" i="0" u="none" strike="noStrike" cap="none" dirty="0">
              <a:solidFill>
                <a:srgbClr val="000000"/>
              </a:solidFill>
              <a:latin typeface="Google Sans"/>
              <a:ea typeface="Google Sans"/>
              <a:cs typeface="Google Sans"/>
              <a:sym typeface="Google Sans"/>
            </a:endParaRPr>
          </a:p>
          <a:p>
            <a:pPr marL="0" marR="0" lvl="0" indent="0"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Family: Lives with parents</a:t>
            </a:r>
            <a:endParaRPr sz="1400" b="1" i="0" u="none" strike="noStrike" cap="none" dirty="0">
              <a:solidFill>
                <a:srgbClr val="000000"/>
              </a:solidFill>
              <a:latin typeface="Google Sans"/>
              <a:ea typeface="Google Sans"/>
              <a:cs typeface="Google Sans"/>
              <a:sym typeface="Google Sans"/>
            </a:endParaRPr>
          </a:p>
          <a:p>
            <a:pPr marL="0" marR="0" lvl="0" indent="0"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Occupation: Product Analyst at a fintech startup</a:t>
            </a:r>
            <a:endParaRPr sz="1400" b="1"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267506"/>
            <a:ext cx="5035800" cy="90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600" i="1" u="none" strike="noStrike" cap="none" dirty="0">
                <a:solidFill>
                  <a:srgbClr val="000000"/>
                </a:solidFill>
                <a:latin typeface="Google Sans"/>
                <a:ea typeface="Google Sans"/>
                <a:cs typeface="Google Sans"/>
                <a:sym typeface="Google Sans"/>
              </a:rPr>
              <a:t>"I just want to pay my credit card bill and know exactly what I'm getting in return — not scroll through a maze of coins and scratch cards."</a:t>
            </a:r>
            <a:endParaRPr sz="16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46575" y="1211941"/>
            <a:ext cx="2522700" cy="213780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600" b="1" i="0" u="none" strike="noStrike" cap="none" dirty="0">
                <a:solidFill>
                  <a:srgbClr val="196702"/>
                </a:solidFill>
                <a:latin typeface="Google Sans"/>
                <a:ea typeface="Google Sans"/>
                <a:cs typeface="Google Sans"/>
                <a:sym typeface="Google Sans"/>
              </a:rPr>
              <a:t>Goals</a:t>
            </a:r>
            <a:endParaRPr lang="en" b="1" dirty="0">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900"/>
              <a:buFont typeface="Arial"/>
              <a:buNone/>
            </a:pPr>
            <a:r>
              <a:rPr lang="en" sz="1100" i="0" u="none" strike="noStrike" cap="none" dirty="0">
                <a:solidFill>
                  <a:srgbClr val="000000"/>
                </a:solidFill>
                <a:latin typeface="Google Sans"/>
                <a:ea typeface="Google Sans"/>
                <a:cs typeface="Google Sans"/>
                <a:sym typeface="Google Sans"/>
              </a:rPr>
              <a:t>• Pay all credit card bills on time from one app</a:t>
            </a:r>
            <a:endParaRPr sz="1100" i="0" u="none" strike="noStrike" cap="none" dirty="0">
              <a:solidFill>
                <a:srgbClr val="000000"/>
              </a:solidFill>
              <a:latin typeface="Google Sans"/>
              <a:ea typeface="Google Sans"/>
              <a:cs typeface="Google Sans"/>
              <a:sym typeface="Google Sans"/>
            </a:endParaRPr>
          </a:p>
          <a:p>
            <a:r>
              <a:rPr sz="1100" dirty="0"/>
              <a:t>• Track credit score and spending patterns monthly</a:t>
            </a:r>
          </a:p>
          <a:p>
            <a:r>
              <a:rPr sz="1100" dirty="0"/>
              <a:t>• Earn meaningful, usable rewards for timely payments</a:t>
            </a:r>
          </a:p>
          <a:p>
            <a:r>
              <a:rPr sz="1100" dirty="0"/>
              <a:t>• Compare cashback options across payment methods</a:t>
            </a:r>
          </a:p>
          <a:p>
            <a:r>
              <a:rPr sz="1100" dirty="0"/>
              <a:t>• Discover financial products (SIPs, loans) transparently</a:t>
            </a:r>
          </a:p>
        </p:txBody>
      </p:sp>
      <p:sp>
        <p:nvSpPr>
          <p:cNvPr id="60" name="Google Shape;60;p13"/>
          <p:cNvSpPr txBox="1"/>
          <p:nvPr/>
        </p:nvSpPr>
        <p:spPr>
          <a:xfrm>
            <a:off x="6317367" y="1211941"/>
            <a:ext cx="2579498" cy="213780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600" b="1" i="0" u="none" strike="noStrike" cap="none" dirty="0">
                <a:solidFill>
                  <a:srgbClr val="C5221F"/>
                </a:solidFill>
                <a:latin typeface="Google Sans"/>
                <a:ea typeface="Google Sans"/>
                <a:cs typeface="Google Sans"/>
                <a:sym typeface="Google Sans"/>
              </a:rPr>
              <a:t>Frustrations</a:t>
            </a:r>
            <a:endParaRPr lang="en" b="1"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100"/>
              <a:buFont typeface="Arial"/>
              <a:buNone/>
            </a:pPr>
            <a:r>
              <a:rPr lang="en" sz="1100" i="0" u="none" strike="noStrike" cap="none" dirty="0">
                <a:solidFill>
                  <a:schemeClr val="dk1"/>
                </a:solidFill>
                <a:latin typeface="Google Sans"/>
                <a:ea typeface="Google Sans"/>
                <a:cs typeface="Google Sans"/>
                <a:sym typeface="Google Sans"/>
              </a:rPr>
              <a:t>• Reward redemption feels opaque — unclear coin-to-value ratio</a:t>
            </a:r>
            <a:endParaRPr sz="11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sz="1100" dirty="0"/>
              <a:t>• Home screen is cluttered with promotions and store items</a:t>
            </a:r>
            <a:endParaRPr sz="1100" i="0" u="none" strike="noStrike" cap="none" dirty="0">
              <a:solidFill>
                <a:srgbClr val="000000"/>
              </a:solidFill>
              <a:latin typeface="Google Sans"/>
              <a:ea typeface="Google Sans"/>
              <a:cs typeface="Google Sans"/>
              <a:sym typeface="Google Sans"/>
            </a:endParaRPr>
          </a:p>
          <a:p>
            <a:r>
              <a:rPr sz="1100" dirty="0"/>
              <a:t>• No way to search or filter rewards by category or brand</a:t>
            </a:r>
          </a:p>
          <a:p>
            <a:r>
              <a:rPr sz="1100" dirty="0"/>
              <a:t>• Dark theme with low-contrast text strains eyes in bright light</a:t>
            </a:r>
          </a:p>
          <a:p>
            <a:r>
              <a:rPr sz="1100" dirty="0"/>
              <a:t>• Post-payment animation forces a wait before returning home</a:t>
            </a:r>
          </a:p>
        </p:txBody>
      </p:sp>
      <p:sp>
        <p:nvSpPr>
          <p:cNvPr id="61" name="Google Shape;61;p13"/>
          <p:cNvSpPr txBox="1"/>
          <p:nvPr/>
        </p:nvSpPr>
        <p:spPr>
          <a:xfrm>
            <a:off x="3595816" y="3504524"/>
            <a:ext cx="5467865" cy="1561745"/>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i="0" u="none" strike="noStrike" cap="none" dirty="0">
                <a:solidFill>
                  <a:srgbClr val="000000"/>
                </a:solidFill>
                <a:latin typeface="Google Sans"/>
                <a:ea typeface="Google Sans"/>
                <a:cs typeface="Google Sans"/>
                <a:sym typeface="Google Sans"/>
              </a:rPr>
              <a:t>Rohan opens CRED on a Sunday evening after receiving a bill-due reminder. He pays his HDFC card bill in under a minute — the flow is fast and satisfying. He earns 1,200 CRED coins and taps to redeem them, but the rewards section presents a scrolling list of vouchers from brands he doesn't recognise, with no filter or search. After two minutes of scrolling, he gives up and closes the app. He knows the payment experience is excellent, but wishes the rewards matched that quality instead of feeling like a slot machine.</a:t>
            </a:r>
            <a:endParaRPr sz="1200" i="0" u="none" strike="noStrike" cap="none" dirty="0">
              <a:solidFill>
                <a:srgbClr val="000000"/>
              </a:solidFill>
              <a:latin typeface="Google Sans"/>
              <a:ea typeface="Google Sans"/>
              <a:cs typeface="Google Sans"/>
              <a:sym typeface="Google Sans"/>
            </a:endParaRPr>
          </a:p>
        </p:txBody>
      </p:sp>
      <p:sp>
        <p:nvSpPr>
          <p:cNvPr id="62" name="Google Shape;62;p13"/>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a:latin typeface="Google Sans"/>
              <a:ea typeface="Google Sans"/>
              <a:cs typeface="Google Sans"/>
              <a:sym typeface="Google Sans"/>
            </a:endParaRPr>
          </a:p>
        </p:txBody>
      </p:sp>
      <p:pic>
        <p:nvPicPr>
          <p:cNvPr id="63" name="Picture 62" descr="cred_persona_image_1786199405988.png"/>
          <p:cNvPicPr>
            <a:picLocks noChangeAspect="1"/>
          </p:cNvPicPr>
          <p:nvPr/>
        </p:nvPicPr>
        <p:blipFill>
          <a:blip r:embed="rId3"/>
          <a:stretch>
            <a:fillRect/>
          </a:stretch>
        </p:blipFill>
        <p:spPr>
          <a:xfrm>
            <a:off x="451525" y="461325"/>
            <a:ext cx="2758200" cy="275820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291</Words>
  <Application>Microsoft Office PowerPoint</Application>
  <PresentationFormat>On-screen Show (16:9)</PresentationFormat>
  <Paragraphs>23</Paragraphs>
  <Slides>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Google Sans</vt:lpstr>
      <vt:lpstr>Arial</vt:lpstr>
      <vt:lpstr>Simple Light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Suhani Senapati</cp:lastModifiedBy>
  <cp:revision>2</cp:revision>
  <dcterms:modified xsi:type="dcterms:W3CDTF">2026-08-08T14:55:57Z</dcterms:modified>
</cp:coreProperties>
</file>